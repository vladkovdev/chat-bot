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2920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E4B7C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E4B7C"/>
                </a:solidFill>
                <a:latin typeface="Calibri"/>
              </a:rPr>
              <a:t>Разработка системы чат-бота поддержки beauty-coworking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389120"/>
            <a:ext cx="6355080" cy="1783080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4462272"/>
            <a:ext cx="6025896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Предмет защиты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Демонстрационный проект информационной системы поддержки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Детерминированный поток диалога и маршрутизация заявок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Демонстрация сценариев: FAQ, бронирование, передача оператору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6213D"/>
                </a:solidFill>
                <a:latin typeface="Calibri"/>
              </a:defRPr>
            </a:pPr>
            <a:r>
              <a:t>Актуальность: поддержка клиентов требует единых правил ответов и прозрачного учета обращений</a:t>
            </a:r>
          </a:p>
          <a:p>
            <a:pPr>
              <a:spcAft>
                <a:spcPts val="800"/>
              </a:spcAft>
              <a:defRPr sz="1800">
                <a:solidFill>
                  <a:srgbClr val="16213D"/>
                </a:solidFill>
                <a:latin typeface="Calibri"/>
              </a:defRPr>
            </a:pPr>
            <a:r>
              <a:t>Технологическая база: контейнеризация и модульная схема сервисов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897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6213D"/>
                </a:solidFill>
                <a:latin typeface="Calibri"/>
              </a:defRPr>
            </a:pPr>
            <a:r>
              <a:t>2026-05-12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Объект, предмет и цель 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170432"/>
            <a:ext cx="10332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6213D"/>
                </a:solidFill>
                <a:latin typeface="Calibri"/>
              </a:rPr>
              <a:t>Ключевые формулировки для академической защиты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3566160" cy="1554480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56231"/>
            <a:ext cx="323697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Объект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Поддержка клиентов сервисного бизнеса на базе чат-интерфейса и операторского контурa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1783080"/>
            <a:ext cx="3657600" cy="1554480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56231"/>
            <a:ext cx="332841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Предмет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Проектирование и реализация ИС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распределяющей реплики по намерению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и обеспечивающей эскалацию оператору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9327" y="1783080"/>
            <a:ext cx="3291840" cy="1554480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856231"/>
            <a:ext cx="296265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Цель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Разработать чат-систему, которая получает запрос клиента, определяет сценарий,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выдает корректный ответ или направляет на следующий этап обработки человеком.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200">
                <a:solidFill>
                  <a:srgbClr val="16213D"/>
                </a:solidFill>
                <a:latin typeface="Calibri"/>
              </a:defRPr>
            </a:pPr>
            <a:r>
              <a:t>Задачи: описание домена beauty-coworking, реализация маршрутизации диалогов,</a:t>
            </a:r>
          </a:p>
          <a:p>
            <a:pPr>
              <a:spcAft>
                <a:spcPts val="800"/>
              </a:spcAft>
              <a:defRPr sz="2200">
                <a:solidFill>
                  <a:srgbClr val="16213D"/>
                </a:solidFill>
                <a:latin typeface="Calibri"/>
              </a:defRPr>
            </a:pPr>
            <a:r>
              <a:t>создание operator queue и операторского контура, верификация локальными gate-командами.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Роли, доступ и 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Клиент: начинает сессию с веб-чата, получает меню и ответы по доступным сценариям.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Система: определяет intent, выбирает ветку сценария и проверяет необходимость операторской помощи.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Оператор: просматривает очередь обращений, принимает и завершает диалог, возвращает итог пользователю.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Новые обращения создаются через отдельный контрактный слой, а не через прямой доступ к внутренним таблицам.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Проект выполняется как demo-реализация с фиктивными внешними провайдерами и контролируемыми данными.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715000"/>
            <a:ext cx="11064240" cy="914400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788152"/>
            <a:ext cx="107350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Ограничения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Нет заявок на реальную авторизацию сотрудников в внешних ID-системах.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Не используется продовая связь с внешними платежными и бронированием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Функционал информационной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5760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16213D"/>
                </a:solidFill>
                <a:latin typeface="Calibri"/>
              </a:defRPr>
            </a:pPr>
            <a:r>
              <a:t>Единое главное меню с быстрым выбором тематических блоков.</a:t>
            </a:r>
          </a:p>
          <a:p>
            <a:pPr>
              <a:spcAft>
                <a:spcPts val="800"/>
              </a:spcAft>
              <a:defRPr sz="2000">
                <a:solidFill>
                  <a:srgbClr val="16213D"/>
                </a:solidFill>
                <a:latin typeface="Calibri"/>
              </a:defRPr>
            </a:pPr>
            <a:r>
              <a:t>FAQ по услугам, правилам и рабочему графику.</a:t>
            </a:r>
          </a:p>
          <a:p>
            <a:pPr>
              <a:spcAft>
                <a:spcPts val="800"/>
              </a:spcAft>
              <a:defRPr sz="2000">
                <a:solidFill>
                  <a:srgbClr val="16213D"/>
                </a:solidFill>
                <a:latin typeface="Calibri"/>
              </a:defRPr>
            </a:pPr>
            <a:r>
              <a:t>Поиск заявки по идентификатору и вывод статуса.</a:t>
            </a:r>
          </a:p>
          <a:p>
            <a:pPr>
              <a:spcAft>
                <a:spcPts val="800"/>
              </a:spcAft>
              <a:defRPr sz="2000">
                <a:solidFill>
                  <a:srgbClr val="16213D"/>
                </a:solidFill>
                <a:latin typeface="Calibri"/>
              </a:defRPr>
            </a:pPr>
            <a:r>
              <a:t>Навигация по тарифам, локациям и рабочим зонам.</a:t>
            </a:r>
          </a:p>
          <a:p>
            <a:pPr>
              <a:spcAft>
                <a:spcPts val="800"/>
              </a:spcAft>
              <a:defRPr sz="2000">
                <a:solidFill>
                  <a:srgbClr val="16213D"/>
                </a:solidFill>
                <a:latin typeface="Calibri"/>
              </a:defRPr>
            </a:pPr>
            <a:r>
              <a:t>Автоматический перевод на оператора при нестандартном запросе.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6213D"/>
                </a:solidFill>
                <a:latin typeface="Calibri"/>
              </a:defRPr>
            </a:pPr>
            <a:r>
              <a:t>Снимки экрана</a:t>
            </a:r>
          </a:p>
          <a:p>
            <a:pPr>
              <a:spcAft>
                <a:spcPts val="800"/>
              </a:spcAft>
              <a:defRPr sz="1400">
                <a:solidFill>
                  <a:srgbClr val="16213D"/>
                </a:solidFill>
                <a:latin typeface="Calibri"/>
              </a:defRPr>
            </a:pPr>
            <a:r>
              <a:t>02-main-menu.png демонстрирует стартовую навигацию и категорийный выбор.</a:t>
            </a:r>
          </a:p>
        </p:txBody>
      </p:sp>
      <p:pic>
        <p:nvPicPr>
          <p:cNvPr id="11" name="Picture 10" descr="02-main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2578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Архитектура решения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1783080" cy="1143000"/>
          </a:xfrm>
          <a:prstGeom prst="rect">
            <a:avLst/>
          </a:prstGeom>
          <a:solidFill>
            <a:srgbClr val="F7FCFF"/>
          </a:solidFill>
          <a:ln w="15240">
            <a:solidFill>
              <a:srgbClr val="247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E4B7C"/>
                </a:solidFill>
              </a:defRPr>
            </a:pPr>
            <a:r>
              <a:t>website</a:t>
            </a:r>
          </a:p>
          <a:p>
            <a:pPr algn="ctr">
              <a:defRPr sz="1200">
                <a:solidFill>
                  <a:srgbClr val="16213D"/>
                </a:solidFill>
              </a:defRPr>
            </a:pPr>
            <a:r>
              <a:t>:8081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554480"/>
            <a:ext cx="1828800" cy="1143000"/>
          </a:xfrm>
          <a:prstGeom prst="rect">
            <a:avLst/>
          </a:prstGeom>
          <a:solidFill>
            <a:srgbClr val="F7FCFF"/>
          </a:solidFill>
          <a:ln w="15240">
            <a:solidFill>
              <a:srgbClr val="247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E4B7C"/>
                </a:solidFill>
              </a:defRPr>
            </a:pPr>
            <a:r>
              <a:t>decision-engine</a:t>
            </a:r>
          </a:p>
          <a:p>
            <a:pPr algn="ctr">
              <a:defRPr sz="1200">
                <a:solidFill>
                  <a:srgbClr val="16213D"/>
                </a:solidFill>
              </a:defRPr>
            </a:pPr>
            <a:r>
              <a:t>:8080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1828800" cy="1143000"/>
          </a:xfrm>
          <a:prstGeom prst="rect">
            <a:avLst/>
          </a:prstGeom>
          <a:solidFill>
            <a:srgbClr val="F7FCFF"/>
          </a:solidFill>
          <a:ln w="15240">
            <a:solidFill>
              <a:srgbClr val="247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E4B7C"/>
                </a:solidFill>
              </a:defRPr>
            </a:pPr>
            <a:r>
              <a:t>nlp-service</a:t>
            </a:r>
          </a:p>
          <a:p>
            <a:pPr algn="ctr">
              <a:defRPr sz="1200">
                <a:solidFill>
                  <a:srgbClr val="16213D"/>
                </a:solidFill>
              </a:defRPr>
            </a:pPr>
            <a:r>
              <a:t>:8082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554480"/>
            <a:ext cx="1828800" cy="1143000"/>
          </a:xfrm>
          <a:prstGeom prst="rect">
            <a:avLst/>
          </a:prstGeom>
          <a:solidFill>
            <a:srgbClr val="F7FCFF"/>
          </a:solidFill>
          <a:ln w="15240">
            <a:solidFill>
              <a:srgbClr val="247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E4B7C"/>
                </a:solidFill>
              </a:defRPr>
            </a:pPr>
            <a:r>
              <a:t>postgres+pgvector</a:t>
            </a:r>
          </a:p>
          <a:p>
            <a:pPr algn="ctr">
              <a:defRPr sz="1200">
                <a:solidFill>
                  <a:srgbClr val="16213D"/>
                </a:solidFill>
              </a:defRPr>
            </a:pPr>
            <a:r>
              <a:t>:5442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87000" y="1554480"/>
            <a:ext cx="1371600" cy="1143000"/>
          </a:xfrm>
          <a:prstGeom prst="rect">
            <a:avLst/>
          </a:prstGeom>
          <a:solidFill>
            <a:srgbClr val="F7FCFF"/>
          </a:solidFill>
          <a:ln w="15240">
            <a:solidFill>
              <a:srgbClr val="247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E4B7C"/>
                </a:solidFill>
              </a:defRPr>
            </a:pPr>
            <a:r>
              <a:t>mock providers</a:t>
            </a:r>
          </a:p>
          <a:p>
            <a:pPr algn="ctr">
              <a:defRPr sz="1200">
                <a:solidFill>
                  <a:srgbClr val="16213D"/>
                </a:solidFill>
              </a:defRPr>
            </a:pPr>
            <a:r>
              <a:t>:8090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108813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6213D"/>
                </a:solidFill>
                <a:latin typeface="Calibri"/>
              </a:defRPr>
            </a:pPr>
            <a:r>
              <a:t>Фронт и API идут в web-канал, который передает сообщение в decision-engine.</a:t>
            </a:r>
          </a:p>
          <a:p>
            <a:pPr>
              <a:spcAft>
                <a:spcPts val="800"/>
              </a:spcAft>
              <a:defRPr sz="1800">
                <a:solidFill>
                  <a:srgbClr val="16213D"/>
                </a:solidFill>
                <a:latin typeface="Calibri"/>
              </a:defRPr>
            </a:pPr>
            <a:r>
              <a:t>Decision-engine использует локальные сценарии, таблицы и NLP-каталог для маршрутизации.</a:t>
            </a:r>
          </a:p>
          <a:p>
            <a:pPr>
              <a:spcAft>
                <a:spcPts val="800"/>
              </a:spcAft>
              <a:defRPr sz="1800">
                <a:solidFill>
                  <a:srgbClr val="16213D"/>
                </a:solidFill>
                <a:latin typeface="Calibri"/>
              </a:defRPr>
            </a:pPr>
            <a:r>
              <a:t>pgvector и fixtures обеспечивают воспроизводимые решения без live-зависимостей.</a:t>
            </a:r>
          </a:p>
          <a:p>
            <a:pPr>
              <a:spcAft>
                <a:spcPts val="800"/>
              </a:spcAft>
              <a:defRPr sz="1800">
                <a:solidFill>
                  <a:srgbClr val="16213D"/>
                </a:solidFill>
                <a:latin typeface="Calibri"/>
              </a:defRPr>
            </a:pPr>
            <a:r>
              <a:t>Операторская очередь и статусы обращений доступны из backend для ручного завершения.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Модель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6172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Сущности в ядре: сессии, сообщения, intents, действия, статусы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Для диалогового хранения также используются структуры очереди и операторских задач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Справочники бизнес-направлений связаны с FAQ и семантическими примерами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Данные о бронированиях и платежах хранятся как структурированный вход для deterministic flow</a:t>
            </a:r>
          </a:p>
          <a:p>
            <a:pPr>
              <a:spcAft>
                <a:spcPts val="800"/>
              </a:spcAft>
              <a:defRPr sz="2100">
                <a:solidFill>
                  <a:srgbClr val="16213D"/>
                </a:solidFill>
                <a:latin typeface="Calibri"/>
              </a:defRPr>
            </a:pPr>
            <a:r>
              <a:t>Для всех сущностей задаются простые контракты обмена и минимальная схема миграций.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600200"/>
            <a:ext cx="4663440" cy="1874519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1" y="1673352"/>
            <a:ext cx="433425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Данные проверки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fake-hash embedding v1, размерность 384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seed data: 40 intents, 437 примеров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knowledge chunks 25, demo-bookings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3840480"/>
            <a:ext cx="4663440" cy="2194560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1" y="3913632"/>
            <a:ext cx="4334255" cy="20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Схема потоков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Пользовательское сообщение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→ session + intent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→ catalog / action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→ response or operator 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Интерфейс ключевых экранов</a:t>
            </a:r>
          </a:p>
        </p:txBody>
      </p:sp>
      <p:pic>
        <p:nvPicPr>
          <p:cNvPr id="9" name="Picture 8" descr="02-main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577840" cy="5257800"/>
          </a:xfrm>
          <a:prstGeom prst="rect">
            <a:avLst/>
          </a:prstGeom>
        </p:spPr>
      </p:pic>
      <p:pic>
        <p:nvPicPr>
          <p:cNvPr id="10" name="Picture 9" descr="05-operator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08760"/>
            <a:ext cx="5074920" cy="5257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583680"/>
            <a:ext cx="10698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6213D"/>
                </a:solidFill>
                <a:latin typeface="Calibri"/>
              </a:rPr>
              <a:t>Слева: пользовательский вход; справа: операторский интерфейс и очередь.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Сценарий обращения и передача оператору</a:t>
            </a:r>
          </a:p>
        </p:txBody>
      </p:sp>
      <p:pic>
        <p:nvPicPr>
          <p:cNvPr id="9" name="Picture 8" descr="04-operator-handoff-and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949440" cy="4983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6679" y="178308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1) Пользователь отправляет запрос в чат.</a:t>
            </a:r>
          </a:p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2) Decision-engine определяет intent и проверяет, есть ли автоматический ответ.</a:t>
            </a:r>
          </a:p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3) При сложном случае формируется задача и заявка попадает в очередь.</a:t>
            </a:r>
          </a:p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4) Оператор принимает задачу, завершает диалог и возвращает результат пользователю.</a:t>
            </a:r>
          </a:p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5) Все шаги фиксируются в операционных сущностях.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Поиск записи, операторская очередь и обработка сценариев</a:t>
            </a:r>
          </a:p>
        </p:txBody>
      </p:sp>
      <p:pic>
        <p:nvPicPr>
          <p:cNvPr id="9" name="Picture 8" descr="03-booking-f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35508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Пример сценария: поиск брони по идентификатору и выдача найденных параметров.</a:t>
            </a:r>
          </a:p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Результат передается в структуру разговора без ручного форматирования.</a:t>
            </a:r>
          </a:p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Если контактная информация и статус не распознаны — диалог переводится на оператора.</a:t>
            </a:r>
          </a:p>
          <a:p>
            <a:pPr>
              <a:spcAft>
                <a:spcPts val="8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Подтверждены ограничения: reproducible демонстрационный runtime и mock-провайдеры.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502920"/>
            <a:ext cx="1828800" cy="539496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47120" y="1097280"/>
            <a:ext cx="1828800" cy="4754880"/>
          </a:xfrm>
          <a:prstGeom prst="rect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914400"/>
            <a:ext cx="2926080" cy="292608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303520"/>
            <a:ext cx="3108960" cy="3108960"/>
          </a:xfrm>
          <a:prstGeom prst="ellipse">
            <a:avLst/>
          </a:prstGeom>
          <a:solidFill>
            <a:srgbClr val="247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-731520" y="562356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 rot="10800000">
            <a:off x="9875520" y="0"/>
            <a:ext cx="2926080" cy="1280160"/>
          </a:xfrm>
          <a:prstGeom prst="chevron">
            <a:avLst/>
          </a:prstGeom>
          <a:solidFill>
            <a:srgbClr val="B8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E4B7C"/>
                </a:solidFill>
                <a:latin typeface="Calibri"/>
              </a:rPr>
              <a:t>Проверка работоспособности и результаты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900">
                <a:solidFill>
                  <a:srgbClr val="16213D"/>
                </a:solidFill>
                <a:latin typeface="Calibri"/>
              </a:defRPr>
            </a:pPr>
            <a:r>
              <a:t>Практика валидации: make semantic-gate; make check-core; scripts/smoke-compose.sh;</a:t>
            </a:r>
          </a:p>
          <a:p>
            <a:pPr>
              <a:spcAft>
                <a:spcPts val="800"/>
              </a:spcAft>
              <a:defRPr sz="1900">
                <a:solidFill>
                  <a:srgbClr val="16213D"/>
                </a:solidFill>
                <a:latin typeface="Calibri"/>
              </a:defRPr>
            </a:pPr>
            <a:r>
              <a:t>Критические e2e проверки: make e2e-smoke; make e2e-full.</a:t>
            </a:r>
          </a:p>
          <a:p>
            <a:pPr>
              <a:spcAft>
                <a:spcPts val="800"/>
              </a:spcAft>
              <a:defRPr sz="1900">
                <a:solidFill>
                  <a:srgbClr val="16213D"/>
                </a:solidFill>
                <a:latin typeface="Calibri"/>
              </a:defRPr>
            </a:pPr>
            <a:r>
              <a:t>Информационная система локально воспроизводима и проверена на наборе фиктивных сценариев.</a:t>
            </a:r>
          </a:p>
          <a:p>
            <a:pPr>
              <a:spcAft>
                <a:spcPts val="800"/>
              </a:spcAft>
              <a:defRPr sz="1900">
                <a:solidFill>
                  <a:srgbClr val="16213D"/>
                </a:solidFill>
                <a:latin typeface="Calibri"/>
              </a:defRPr>
            </a:pPr>
            <a:r>
              <a:t>Контракты с внешним миром ограничены mock-слоем: это демонстрационный, детерминированный проект.</a:t>
            </a:r>
          </a:p>
          <a:p>
            <a:pPr>
              <a:spcAft>
                <a:spcPts val="800"/>
              </a:spcAft>
              <a:defRPr sz="1900">
                <a:solidFill>
                  <a:srgbClr val="16213D"/>
                </a:solidFill>
                <a:latin typeface="Calibri"/>
              </a:defRPr>
            </a:pPr>
            <a:r>
              <a:t>Общий итог: покрытие функционала, архитектурной трассируемости и операционной очереди подтверждено.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983480"/>
            <a:ext cx="7406640" cy="1371600"/>
          </a:xfrm>
          <a:prstGeom prst="rect">
            <a:avLst/>
          </a:prstGeom>
          <a:solidFill>
            <a:srgbClr val="F5F9FF"/>
          </a:solidFill>
          <a:ln w="12700">
            <a:solidFill>
              <a:srgbClr val="B8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056632"/>
            <a:ext cx="707745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4F84"/>
                </a:solidFill>
                <a:latin typeface="Calibri"/>
              </a:defRPr>
            </a:pPr>
            <a:r>
              <a:t>Фактографика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pgvector: 0.8.2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fake-hash embedding v1</a:t>
            </a:r>
          </a:p>
          <a:p>
            <a:pPr>
              <a:spcAft>
                <a:spcPts val="600"/>
              </a:spcAft>
              <a:defRPr sz="1600">
                <a:solidFill>
                  <a:srgbClr val="16213D"/>
                </a:solidFill>
                <a:latin typeface="Calibri"/>
              </a:defRPr>
            </a:pPr>
            <a:r>
              <a:t>seed data: 4 demo accounts, 4 demo bookings, 5 demo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937760"/>
            <a:ext cx="3474720" cy="1554480"/>
          </a:xfrm>
          <a:prstGeom prst="rect">
            <a:avLst/>
          </a:prstGeom>
          <a:solidFill>
            <a:srgbClr val="0E4B7C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Спасибо
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